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2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平均租车量</c:v>
          </c:tx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12</c:v>
                </c:pt>
                <c:pt idx="5">
                  <c:v>17</c:v>
                </c:pt>
                <c:pt idx="6">
                  <c:v>20</c:v>
                </c:pt>
                <c:pt idx="7">
                  <c:v>23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53</c:v>
                </c:pt>
                <c:pt idx="1">
                  <c:v>6</c:v>
                </c:pt>
                <c:pt idx="2">
                  <c:v>76</c:v>
                </c:pt>
                <c:pt idx="3">
                  <c:v>359</c:v>
                </c:pt>
                <c:pt idx="4">
                  <c:v>253</c:v>
                </c:pt>
                <c:pt idx="5">
                  <c:v>461</c:v>
                </c:pt>
                <c:pt idx="6">
                  <c:v>350</c:v>
                </c:pt>
                <c:pt idx="7">
                  <c:v>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4B3-124A-8DDF-5423DE71E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en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平均租车量</c:v>
          </c:tx>
          <c:spPr>
            <a:solidFill>
              <a:srgbClr val="19C1D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Helvetica Neue"/>
                    <a:ea typeface="Helvetica Neue"/>
                    <a:cs typeface="Helvetica Neue"/>
                  </a:defRPr>
                </a:pPr>
                <a:endParaRPr lang="en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晴朗</c:v>
                </c:pt>
                <c:pt idx="1">
                  <c:v>雾/多云</c:v>
                </c:pt>
                <c:pt idx="2">
                  <c:v>小雨雪</c:v>
                </c:pt>
                <c:pt idx="3">
                  <c:v>强雨雪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205</c:v>
                </c:pt>
                <c:pt idx="1">
                  <c:v>175</c:v>
                </c:pt>
                <c:pt idx="2">
                  <c:v>112</c:v>
                </c:pt>
                <c:pt idx="3">
                  <c:v>74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C81-5649-8DEF-493D0BB424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endParaRPr lang="en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封面。演讲者：成员 1。数据来源见项目数据说明与报告。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1。说明项目不是单纯画图，而是包含数据、数据库与前端三层。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1。右侧图片为项目实际数据获取截图。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1。完整结构图见项目 docs/code-structure.svg。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2。数据结论：17 点最高；天气统计仅说明关联趋势，不宣称因果。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1。右侧是实际导入成功截图。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1。右侧是项目实际 KPI 与天气查询测试截图。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3。现场可启动 web/dashboard 的 http.server 后展示真实页面。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4 或成员 5。正式分工见 docs/team-plan.md。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演讲者：成员 5。总结项目价值和可扩展方向，进入提问环节。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BB539-FFDB-4285-8DBD-98D57E9A1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B33"/>
          </a:solidFill>
          <a:ln w="0">
            <a:noFill/>
          </a:ln>
        </p:spPr>
        <p:txBody>
          <a:bodyPr/>
          <a:lstStyle/>
          <a:p>
            <a:endParaRPr lang="en-C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783285-79C3-438B-90A3-CD525CC95088}"/>
              </a:ext>
            </a:extLst>
          </p:cNvPr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0D315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41DA916-2B1E-4C51-A505-B1BB5DFB3C36}"/>
              </a:ext>
            </a:extLst>
          </p:cNvPr>
          <p:cNvSpPr>
            <a:spLocks noGrp="1"/>
          </p:cNvSpPr>
          <p:nvPr/>
        </p:nvSpPr>
        <p:spPr>
          <a:xfrm>
            <a:off x="8096250" y="904875"/>
            <a:ext cx="2762250" cy="2762250"/>
          </a:xfrm>
          <a:prstGeom prst="roundRect">
            <a:avLst>
              <a:gd name="adj" fmla="val 4138"/>
            </a:avLst>
          </a:prstGeom>
          <a:solidFill>
            <a:srgbClr val="0C4E7A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EC83B3-6FA1-4834-8D7C-41778BD224F2}"/>
              </a:ext>
            </a:extLst>
          </p:cNvPr>
          <p:cNvSpPr>
            <a:spLocks noGrp="1"/>
          </p:cNvSpPr>
          <p:nvPr/>
        </p:nvSpPr>
        <p:spPr>
          <a:xfrm>
            <a:off x="8763000" y="1571625"/>
            <a:ext cx="1428750" cy="1428750"/>
          </a:xfrm>
          <a:prstGeom prst="roundRect">
            <a:avLst>
              <a:gd name="adj" fmla="val 8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35068-D133-418F-969D-CDEDD9220226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共享单车租赁需求分析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4EB8D-8A58-47E6-981A-FE830CAB7ACE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647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025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数据库查询与可视化大屏系统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39F19-86C6-4A3D-A081-850EFD4EAEA8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2000250" cy="38100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04CE0-EB0C-498A-90A3-FC66959DA015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软件开发实践 1 · 数据分析与可视化方向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6590C-DE94-4A4C-BC8D-72D0B54FCCB5}"/>
              </a:ext>
            </a:extLst>
          </p:cNvPr>
          <p:cNvSpPr>
            <a:spLocks noGrp="1"/>
          </p:cNvSpPr>
          <p:nvPr/>
        </p:nvSpPr>
        <p:spPr>
          <a:xfrm>
            <a:off x="723900" y="4333875"/>
            <a:ext cx="3429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五人课程项目答辩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1234FF-51D3-4ED6-9210-A437A52133EE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61912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l">
              <a:defRPr sz="9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rPr>
              <a:t>数据来源：UCI Bike Sharing Dataset / Kaggle Bike Sharing Demand</a:t>
            </a:r>
          </a:p>
        </p:txBody>
      </p:sp>
    </p:spTree>
    <p:extLst>
      <p:ext uri="{BB962C8B-B14F-4D97-AF65-F5344CB8AC3E}">
        <p14:creationId xmlns:p14="http://schemas.microsoft.com/office/powerpoint/2010/main" val="39463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A671902-A44B-4558-8195-2667B174F62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项目问题与交付范围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D3BD76-ADD6-4D41-8970-FB1722C74AD1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从共享单车需求数据到数据库查询与前端展示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1BD72D-9846-4331-B336-6B9F5D39DD7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AC6E55-3870-4736-8364-3CC48D951842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159"/>
          </a:bodyPr>
          <a:lstStyle/>
          <a:p>
            <a:pPr algn="l">
              <a:defRPr sz="17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我们希望回答的运营问题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A62A2D-513B-48E4-9746-F2CE8E7A828B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26B74-4ACA-4EFF-930E-7B3EED50D6C9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一天中哪些时段租车需求最高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52242F-6AA9-4575-B141-583755383E59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692DC5-AC01-4E5A-BC39-1FDF503DCE77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天气变化会带来怎样的租车量差异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2DD770-3088-408F-A5F5-8FFA2ABF1DD4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68D69-6CAC-4F6E-8140-48A2A7EF66B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注册用户和临时用户的使用结构如何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A88DEE-842F-48F6-A180-A90EDF443BAC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4762500" cy="40005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92894-E2B7-48C2-9424-0EBEBC573B5C}"/>
              </a:ext>
            </a:extLst>
          </p:cNvPr>
          <p:cNvSpPr>
            <a:spLocks noGrp="1"/>
          </p:cNvSpPr>
          <p:nvPr/>
        </p:nvSpPr>
        <p:spPr>
          <a:xfrm>
            <a:off x="6762750" y="185737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l">
              <a:defRPr sz="172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项目交付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53269B9-18EA-47EB-B6C3-18B4A4D5C50C}"/>
              </a:ext>
            </a:extLst>
          </p:cNvPr>
          <p:cNvSpPr>
            <a:spLocks noGrp="1"/>
          </p:cNvSpPr>
          <p:nvPr/>
        </p:nvSpPr>
        <p:spPr>
          <a:xfrm>
            <a:off x="6858000" y="24955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613049-4F06-4067-BFF7-FFD80B995CAC}"/>
              </a:ext>
            </a:extLst>
          </p:cNvPr>
          <p:cNvSpPr>
            <a:spLocks noGrp="1"/>
          </p:cNvSpPr>
          <p:nvPr/>
        </p:nvSpPr>
        <p:spPr>
          <a:xfrm>
            <a:off x="7048500" y="2400300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Python 数据清洗与统计分析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B75BAD-75EF-4EA3-9F40-A5F5A44F64D7}"/>
              </a:ext>
            </a:extLst>
          </p:cNvPr>
          <p:cNvSpPr>
            <a:spLocks noGrp="1"/>
          </p:cNvSpPr>
          <p:nvPr/>
        </p:nvSpPr>
        <p:spPr>
          <a:xfrm>
            <a:off x="6858000" y="30480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6A02E-E978-4FD5-A1C1-A22B44017F06}"/>
              </a:ext>
            </a:extLst>
          </p:cNvPr>
          <p:cNvSpPr>
            <a:spLocks noGrp="1"/>
          </p:cNvSpPr>
          <p:nvPr/>
        </p:nvSpPr>
        <p:spPr>
          <a:xfrm>
            <a:off x="7048500" y="2952750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SQLite 建库、导入与查询接口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B188B80-C792-4BF6-BC91-3B59F710C9F1}"/>
              </a:ext>
            </a:extLst>
          </p:cNvPr>
          <p:cNvSpPr>
            <a:spLocks noGrp="1"/>
          </p:cNvSpPr>
          <p:nvPr/>
        </p:nvSpPr>
        <p:spPr>
          <a:xfrm>
            <a:off x="6858000" y="36004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4D04A9-F9EE-4376-A6CB-8FC72A1FE596}"/>
              </a:ext>
            </a:extLst>
          </p:cNvPr>
          <p:cNvSpPr>
            <a:spLocks noGrp="1"/>
          </p:cNvSpPr>
          <p:nvPr/>
        </p:nvSpPr>
        <p:spPr>
          <a:xfrm>
            <a:off x="7048500" y="3505200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ECharts 数据大屏与完整文档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8A5C27-1CB7-47D2-B308-BF721468219E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核心思路：分析、数据库和页面分层实现，便于测试与展示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79B2BC-7D36-44EC-8546-E846A71DB67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94C3A3-8FEC-4665-B98F-E65810D69BE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80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D48E-D1D2-4F00-AF2F-900FD9D927B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真实数据来源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EADBA4-2C25-401C-8C73-D726C182F415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UCI 用于小时级分析，Kaggle 整理数据用于数据库与大屏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F9E4DE-47A7-4118-81DB-DF60F719D33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973641"/>
            <a:ext cx="5048250" cy="3063118"/>
          </a:xfrm>
          <a:prstGeom prst="roundRect">
            <a:avLst>
              <a:gd name="adj" fmla="val 2857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50C226-1D23-4FA2-931E-837EFE884894}"/>
              </a:ext>
            </a:extLst>
          </p:cNvPr>
          <p:cNvSpPr>
            <a:spLocks noGrp="1"/>
          </p:cNvSpPr>
          <p:nvPr/>
        </p:nvSpPr>
        <p:spPr>
          <a:xfrm>
            <a:off x="704850" y="166687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数据使用方式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E4E806-6A2A-4BC2-9A98-978B5F7F50B1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502962-9019-4511-AB24-E328DDF7CA1A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438"/>
          </a:bodyPr>
          <a:lstStyle/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UCI hour.csv：17,379 条小时记录，用于清洗、统计和静态图表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D32A7A4-B95D-4419-9D82-F8516E0676A2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E9111-31CE-462E-B598-0A9170A0A1E6}"/>
              </a:ext>
            </a:extLst>
          </p:cNvPr>
          <p:cNvSpPr>
            <a:spLocks noGrp="1"/>
          </p:cNvSpPr>
          <p:nvPr/>
        </p:nvSpPr>
        <p:spPr>
          <a:xfrm>
            <a:off x="952500" y="28384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21"/>
          </a:bodyPr>
          <a:lstStyle/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bike_data.csv：10,886 条记录，用于 SQLite、查询接口和前端 JSON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6DEE1E-276B-4CF2-BC43-3B1B07FF69D3}"/>
              </a:ext>
            </a:extLst>
          </p:cNvPr>
          <p:cNvSpPr>
            <a:spLocks noGrp="1"/>
          </p:cNvSpPr>
          <p:nvPr/>
        </p:nvSpPr>
        <p:spPr>
          <a:xfrm>
            <a:off x="762000" y="35814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7886DD-DAC8-412E-B0C0-F6F0E7500792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4667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两份数据均包含时间、天气、用户数量和总租车量等核心字段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F62AF-B099-4406-98B0-6CE6A058C73B}"/>
              </a:ext>
            </a:extLst>
          </p:cNvPr>
          <p:cNvSpPr>
            <a:spLocks noGrp="1"/>
          </p:cNvSpPr>
          <p:nvPr/>
        </p:nvSpPr>
        <p:spPr>
          <a:xfrm>
            <a:off x="704850" y="54483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56"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Kaggle 页面截图保留为数据获取过程证据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373A1-3967-4991-8A37-91B20BEE81C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59F3E-7C1C-46C8-850C-D7872FAAC8E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548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E0A58-912F-4E30-9311-1FB2BCD19C2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系统架构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AA087-ADCC-47F8-AC99-E4C11381A4FE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三条数据链路共同组成完整项目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15EB2-6BDA-43DD-BD19-97925F136DA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125F773-63A7-4D44-8C42-63904DB9DD8D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F6FAFD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3872D-2D8B-468F-9238-05FC9801B0DC}"/>
              </a:ext>
            </a:extLst>
          </p:cNvPr>
          <p:cNvSpPr>
            <a:spLocks noGrp="1"/>
          </p:cNvSpPr>
          <p:nvPr/>
        </p:nvSpPr>
        <p:spPr>
          <a:xfrm>
            <a:off x="1066800" y="2124075"/>
            <a:ext cx="238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250"/>
          </a:bodyPr>
          <a:lstStyle/>
          <a:p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静态分析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53484-8894-45CB-A5AA-0057ADA5A78C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23241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UCI hour.csv</a:t>
            </a:r>
          </a:p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loader → cleaner → metrics → charts</a:t>
            </a:r>
          </a:p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输出 PNG 分析图表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082D89-2ECC-42D6-B07A-B6CE3ADFA20F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55383E-0E99-44F9-8262-5666B25F4C29}"/>
              </a:ext>
            </a:extLst>
          </p:cNvPr>
          <p:cNvSpPr>
            <a:spLocks noGrp="1"/>
          </p:cNvSpPr>
          <p:nvPr/>
        </p:nvSpPr>
        <p:spPr>
          <a:xfrm>
            <a:off x="4552950" y="2124075"/>
            <a:ext cx="238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250"/>
          </a:bodyPr>
          <a:lstStyle/>
          <a:p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数据库查询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BC6FD-E1D1-44E8-8BEC-5DD5302CD21B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23241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CSV</a:t>
            </a:r>
          </a:p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init_db → SQLite → db_helper → API</a:t>
            </a:r>
          </a:p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返回 KPI、天气、小时查询结果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6C96D7-CCB4-4C29-9A7F-5F4220028086}"/>
              </a:ext>
            </a:extLst>
          </p:cNvPr>
          <p:cNvSpPr>
            <a:spLocks noGrp="1"/>
          </p:cNvSpPr>
          <p:nvPr/>
        </p:nvSpPr>
        <p:spPr>
          <a:xfrm>
            <a:off x="7772400" y="1809750"/>
            <a:ext cx="2857500" cy="2952750"/>
          </a:xfrm>
          <a:prstGeom prst="roundRect">
            <a:avLst>
              <a:gd name="adj" fmla="val 4000"/>
            </a:avLst>
          </a:prstGeom>
          <a:solidFill>
            <a:srgbClr val="F6FAFD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8278E5-754C-4D4D-BDD3-5D9D6D769312}"/>
              </a:ext>
            </a:extLst>
          </p:cNvPr>
          <p:cNvSpPr>
            <a:spLocks noGrp="1"/>
          </p:cNvSpPr>
          <p:nvPr/>
        </p:nvSpPr>
        <p:spPr>
          <a:xfrm>
            <a:off x="8039100" y="2124075"/>
            <a:ext cx="2381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250"/>
          </a:bodyPr>
          <a:lstStyle/>
          <a:p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前端大屏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C6204D-68CB-465F-9B6E-948EA0CEFA39}"/>
              </a:ext>
            </a:extLst>
          </p:cNvPr>
          <p:cNvSpPr>
            <a:spLocks noGrp="1"/>
          </p:cNvSpPr>
          <p:nvPr/>
        </p:nvSpPr>
        <p:spPr>
          <a:xfrm>
            <a:off x="8039100" y="2686050"/>
            <a:ext cx="23241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CSV</a:t>
            </a:r>
          </a:p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process_data → data.json → ECharts</a:t>
            </a:r>
          </a:p>
          <a:p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输出浏览器端仪表盘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C55D26-FFCF-4C64-BBAA-B2C271A4205F}"/>
              </a:ext>
            </a:extLst>
          </p:cNvPr>
          <p:cNvSpPr>
            <a:spLocks noGrp="1"/>
          </p:cNvSpPr>
          <p:nvPr/>
        </p:nvSpPr>
        <p:spPr>
          <a:xfrm>
            <a:off x="800100" y="5286375"/>
            <a:ext cx="9620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测试覆盖 UCI 分析流程和 SQLite 导入查询流程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CF0A7-F9EE-4485-AF4A-2A467BD2C3F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EBF528-60DE-482D-B3BB-95A054D8F3C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908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F2F9BE-29E7-40A1-B1EF-48F6372590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小时需求与天气差异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1CC1A5-0DE7-4348-8B52-FF6F0523EEF5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统计结果来自 UCI 小时级数据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C8282-6544-4808-8CC4-D9BD51CE644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graphicFrame>
        <p:nvGraphicFramePr>
          <p:cNvPr id="13" name="Chart"/>
          <p:cNvGraphicFramePr/>
          <p:nvPr/>
        </p:nvGraphicFramePr>
        <p:xfrm>
          <a:off x="647700" y="1619250"/>
          <a:ext cx="59055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991350" y="1828800"/>
          <a:ext cx="4095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DDC2BE2-E662-4DAB-A883-E2EF786D707A}"/>
              </a:ext>
            </a:extLst>
          </p:cNvPr>
          <p:cNvSpPr>
            <a:spLocks noGrp="1"/>
          </p:cNvSpPr>
          <p:nvPr/>
        </p:nvSpPr>
        <p:spPr>
          <a:xfrm>
            <a:off x="819150" y="55721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17 点平均租车量最高，约 461 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8BAC5-59FD-46C6-9DC3-1A6BFE24E524}"/>
              </a:ext>
            </a:extLst>
          </p:cNvPr>
          <p:cNvSpPr>
            <a:spLocks noGrp="1"/>
          </p:cNvSpPr>
          <p:nvPr/>
        </p:nvSpPr>
        <p:spPr>
          <a:xfrm>
            <a:off x="6991350" y="5572125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天气越恶劣，平均租车量越低。该结果属于描述性统计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7DC060-A315-46E8-8FBC-E4F440D8534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518AF-B005-4E71-ACF0-E90B14BD8E1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405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662AE3E-1EC3-469C-97CD-7F7BA5F069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SQLite 建库与数据导入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9FDA6-6079-4A6F-B730-6737048C7AE4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Kaggle 整理后的 CSV 写入 bike_usage 表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22F336-6547-4D51-A88A-81EF9F16415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0" y="1861228"/>
            <a:ext cx="5429250" cy="3230795"/>
          </a:xfrm>
          <a:prstGeom prst="roundRect">
            <a:avLst>
              <a:gd name="adj" fmla="val 2791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4C82B3-1854-476F-9F1C-06FA72AC3B2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实现内容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87132B-38DE-4D1B-86CD-CAE6F408B87E}"/>
              </a:ext>
            </a:extLst>
          </p:cNvPr>
          <p:cNvSpPr>
            <a:spLocks noGrp="1"/>
          </p:cNvSpPr>
          <p:nvPr/>
        </p:nvSpPr>
        <p:spPr>
          <a:xfrm>
            <a:off x="742950" y="23336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B848E-1FD9-4D1F-A2B2-84CA003D827A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读取 bike_data.csv 并检查 12 个业务字段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76E3B7-B320-464D-AFB9-47908326F72C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B7B4D8-C5D8-4A1B-B942-F5731E48FBFD}"/>
              </a:ext>
            </a:extLst>
          </p:cNvPr>
          <p:cNvSpPr>
            <a:spLocks noGrp="1"/>
          </p:cNvSpPr>
          <p:nvPr/>
        </p:nvSpPr>
        <p:spPr>
          <a:xfrm>
            <a:off x="933450" y="2828925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创建 bike_usage 表，建立时间和天气索引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07E2A8-EB80-4BC0-ADAF-685E1C5481C1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D5E959-D1F6-4143-92AF-CE857B81292E}"/>
              </a:ext>
            </a:extLst>
          </p:cNvPr>
          <p:cNvSpPr>
            <a:spLocks noGrp="1"/>
          </p:cNvSpPr>
          <p:nvPr/>
        </p:nvSpPr>
        <p:spPr>
          <a:xfrm>
            <a:off x="933450" y="3419475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数据库文件随项目提交，便于现场复现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AF6F40-C01C-4531-B122-64E04C46BA6A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92"/>
          </a:bodyPr>
          <a:lstStyle/>
          <a:p>
            <a:pPr algn="l">
              <a:defRPr sz="127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对应代码：database/init_db.py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B5E229-45D6-488E-8599-CEA3AF828CA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4902C4-32E8-42FF-A7CA-0945F0DF518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19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10D47C-F143-4C44-91C3-7191DB39AFC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查询接口与数据服务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116D65-4A59-46CD-B6CC-8796E5E02215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KPI、天气和小时统计封装为可复用接口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20118-1AA6-4E61-BEA8-6762ACB82BE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48375" y="1832268"/>
            <a:ext cx="5143500" cy="3193464"/>
          </a:xfrm>
          <a:prstGeom prst="roundRect">
            <a:avLst>
              <a:gd name="adj" fmla="val 2857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917E3A-EA9A-4A91-B87B-2B16184D860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三个查询接口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2B81020-DA22-4BC5-B390-414941BE70E8}"/>
              </a:ext>
            </a:extLst>
          </p:cNvPr>
          <p:cNvSpPr>
            <a:spLocks noGrp="1"/>
          </p:cNvSpPr>
          <p:nvPr/>
        </p:nvSpPr>
        <p:spPr>
          <a:xfrm>
            <a:off x="742950" y="23336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E1C88-5E3A-44EE-A23F-46FE623A614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get_kpi_summary：总租车量、用户数量、平均温度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2B0F5E-30FF-436B-9069-8F1860E26065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95044C-C995-4112-B480-833B6A6FF32C}"/>
              </a:ext>
            </a:extLst>
          </p:cNvPr>
          <p:cNvSpPr>
            <a:spLocks noGrp="1"/>
          </p:cNvSpPr>
          <p:nvPr/>
        </p:nvSpPr>
        <p:spPr>
          <a:xfrm>
            <a:off x="933450" y="282892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get_weather_stat：按天气编码汇总租车量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D63EDB-AD02-44F1-BD51-C90C367B96EB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0F91E-B9A0-41DB-A63B-E1D86A6833AA}"/>
              </a:ext>
            </a:extLst>
          </p:cNvPr>
          <p:cNvSpPr>
            <a:spLocks noGrp="1"/>
          </p:cNvSpPr>
          <p:nvPr/>
        </p:nvSpPr>
        <p:spPr>
          <a:xfrm>
            <a:off x="933450" y="341947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get_hourly_stat：按小时计算平均租车量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E5B33F-6694-4DD0-8E13-89017DB0F8B9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接口测试结果：总租车量 2,085,476 次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7EF50-63D4-4430-96D1-2834BDA45EC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352931-DAF7-4A91-8620-8D25798BFC9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102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7914B0D-B837-43AB-8F9E-B46D4C12C9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ECharts 数据大屏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912055-D98D-4B6C-B172-1FFB158303EB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前端读取 data.json 并展示关键指标与趋势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9FEB4-D561-43FC-80B7-3D2652F822C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0EDCA9-9741-4B0A-A447-0A2CF417503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858500" cy="3714750"/>
          </a:xfrm>
          <a:prstGeom prst="roundRect">
            <a:avLst>
              <a:gd name="adj" fmla="val 3077"/>
            </a:avLst>
          </a:prstGeom>
          <a:solidFill>
            <a:srgbClr val="071B33"/>
          </a:solidFill>
          <a:ln w="9525">
            <a:solidFill>
              <a:srgbClr val="0B79D0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F38C7A-7A43-449F-A70E-DA67E90D766C}"/>
              </a:ext>
            </a:extLst>
          </p:cNvPr>
          <p:cNvSpPr>
            <a:spLocks noGrp="1"/>
          </p:cNvSpPr>
          <p:nvPr/>
        </p:nvSpPr>
        <p:spPr>
          <a:xfrm>
            <a:off x="1000125" y="1847850"/>
            <a:ext cx="5143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共享单车租车数据分析大屏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852D30-C4A4-4ADD-8D3B-40916F69EF97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2095500" cy="990600"/>
          </a:xfrm>
          <a:prstGeom prst="roundRect">
            <a:avLst>
              <a:gd name="adj" fmla="val 11538"/>
            </a:avLst>
          </a:prstGeom>
          <a:solidFill>
            <a:srgbClr val="102C4A"/>
          </a:solidFill>
          <a:ln w="9525">
            <a:solidFill>
              <a:srgbClr val="1B4E7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7CB08A-F312-432E-9257-7C787EFA9265}"/>
              </a:ext>
            </a:extLst>
          </p:cNvPr>
          <p:cNvSpPr>
            <a:spLocks noGrp="1"/>
          </p:cNvSpPr>
          <p:nvPr/>
        </p:nvSpPr>
        <p:spPr>
          <a:xfrm>
            <a:off x="1171575" y="25717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2,085,476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7C98E0-BE4D-45A8-946D-A512947CB1E0}"/>
              </a:ext>
            </a:extLst>
          </p:cNvPr>
          <p:cNvSpPr>
            <a:spLocks noGrp="1"/>
          </p:cNvSpPr>
          <p:nvPr/>
        </p:nvSpPr>
        <p:spPr>
          <a:xfrm>
            <a:off x="1171575" y="3000375"/>
            <a:ext cx="1752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总租车数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7CE427-C93A-4758-BA6F-461F212EA3B6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95500" cy="990600"/>
          </a:xfrm>
          <a:prstGeom prst="roundRect">
            <a:avLst>
              <a:gd name="adj" fmla="val 11538"/>
            </a:avLst>
          </a:prstGeom>
          <a:solidFill>
            <a:srgbClr val="102C4A"/>
          </a:solidFill>
          <a:ln w="9525">
            <a:solidFill>
              <a:srgbClr val="1B4E7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10742-3C47-43B5-947F-2C616F151694}"/>
              </a:ext>
            </a:extLst>
          </p:cNvPr>
          <p:cNvSpPr>
            <a:spLocks noGrp="1"/>
          </p:cNvSpPr>
          <p:nvPr/>
        </p:nvSpPr>
        <p:spPr>
          <a:xfrm>
            <a:off x="3648075" y="25717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4,573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D5921F-303E-464E-8D9D-86819436FA80}"/>
              </a:ext>
            </a:extLst>
          </p:cNvPr>
          <p:cNvSpPr>
            <a:spLocks noGrp="1"/>
          </p:cNvSpPr>
          <p:nvPr/>
        </p:nvSpPr>
        <p:spPr>
          <a:xfrm>
            <a:off x="3648075" y="3000375"/>
            <a:ext cx="1752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日均租车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E1DB73D-23B6-491A-BAF7-C2AE7421BE9E}"/>
              </a:ext>
            </a:extLst>
          </p:cNvPr>
          <p:cNvSpPr>
            <a:spLocks noGrp="1"/>
          </p:cNvSpPr>
          <p:nvPr/>
        </p:nvSpPr>
        <p:spPr>
          <a:xfrm>
            <a:off x="5953125" y="2381250"/>
            <a:ext cx="2095500" cy="990600"/>
          </a:xfrm>
          <a:prstGeom prst="roundRect">
            <a:avLst>
              <a:gd name="adj" fmla="val 11538"/>
            </a:avLst>
          </a:prstGeom>
          <a:solidFill>
            <a:srgbClr val="102C4A"/>
          </a:solidFill>
          <a:ln w="9525">
            <a:solidFill>
              <a:srgbClr val="1B4E7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599DFB-60EA-4656-B881-5CFF325BE20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8,714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8F265-B71D-45AE-8A0D-A948C1FB8BE6}"/>
              </a:ext>
            </a:extLst>
          </p:cNvPr>
          <p:cNvSpPr>
            <a:spLocks noGrp="1"/>
          </p:cNvSpPr>
          <p:nvPr/>
        </p:nvSpPr>
        <p:spPr>
          <a:xfrm>
            <a:off x="6124575" y="3000375"/>
            <a:ext cx="1752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最高单日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305EE8-7A3A-42A6-A2D4-C59E2BE903B0}"/>
              </a:ext>
            </a:extLst>
          </p:cNvPr>
          <p:cNvSpPr>
            <a:spLocks noGrp="1"/>
          </p:cNvSpPr>
          <p:nvPr/>
        </p:nvSpPr>
        <p:spPr>
          <a:xfrm>
            <a:off x="8429625" y="2381250"/>
            <a:ext cx="2095500" cy="990600"/>
          </a:xfrm>
          <a:prstGeom prst="roundRect">
            <a:avLst>
              <a:gd name="adj" fmla="val 11538"/>
            </a:avLst>
          </a:prstGeom>
          <a:solidFill>
            <a:srgbClr val="102C4A"/>
          </a:solidFill>
          <a:ln w="9525">
            <a:solidFill>
              <a:srgbClr val="1B4E78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9E28B-3491-4986-A4D6-1263C7A9B36C}"/>
              </a:ext>
            </a:extLst>
          </p:cNvPr>
          <p:cNvSpPr>
            <a:spLocks noGrp="1"/>
          </p:cNvSpPr>
          <p:nvPr/>
        </p:nvSpPr>
        <p:spPr>
          <a:xfrm>
            <a:off x="8601075" y="25717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81.2%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D7CB67-AB2C-4E97-B095-E2D56203001B}"/>
              </a:ext>
            </a:extLst>
          </p:cNvPr>
          <p:cNvSpPr>
            <a:spLocks noGrp="1"/>
          </p:cNvSpPr>
          <p:nvPr/>
        </p:nvSpPr>
        <p:spPr>
          <a:xfrm>
            <a:off x="8601075" y="3000375"/>
            <a:ext cx="1752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注册用户占比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209243-C2D6-41DD-8368-839BCB98213F}"/>
              </a:ext>
            </a:extLst>
          </p:cNvPr>
          <p:cNvSpPr>
            <a:spLocks noGrp="1"/>
          </p:cNvSpPr>
          <p:nvPr/>
        </p:nvSpPr>
        <p:spPr>
          <a:xfrm>
            <a:off x="1047750" y="3762375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/>
          </a:bodyPr>
          <a:lstStyle/>
          <a:p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月度趋势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7B053E7-169E-4E42-884B-C0BC2DC61F02}"/>
              </a:ext>
            </a:extLst>
          </p:cNvPr>
          <p:cNvSpPr>
            <a:spLocks noGrp="1"/>
          </p:cNvSpPr>
          <p:nvPr/>
        </p:nvSpPr>
        <p:spPr>
          <a:xfrm>
            <a:off x="1047750" y="4143375"/>
            <a:ext cx="4286250" cy="666750"/>
          </a:xfrm>
          <a:prstGeom prst="roundRect">
            <a:avLst>
              <a:gd name="adj" fmla="val 17143"/>
            </a:avLst>
          </a:prstGeom>
          <a:solidFill>
            <a:srgbClr val="0D315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BD9295-138E-461E-ABBF-ACDA8C16CE83}"/>
              </a:ext>
            </a:extLst>
          </p:cNvPr>
          <p:cNvSpPr>
            <a:spLocks noGrp="1"/>
          </p:cNvSpPr>
          <p:nvPr/>
        </p:nvSpPr>
        <p:spPr>
          <a:xfrm>
            <a:off x="1257300" y="43815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l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折线图：观察需求在不同月份的变化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D8E6C4-5D86-4AA2-BB9C-C9CF2EE02DDD}"/>
              </a:ext>
            </a:extLst>
          </p:cNvPr>
          <p:cNvSpPr>
            <a:spLocks noGrp="1"/>
          </p:cNvSpPr>
          <p:nvPr/>
        </p:nvSpPr>
        <p:spPr>
          <a:xfrm>
            <a:off x="6000750" y="3762375"/>
            <a:ext cx="3524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/>
          </a:bodyPr>
          <a:lstStyle/>
          <a:p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小时 / 季节 / 温度 / 用户结构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A2469B6-0567-4226-99D7-228C4FB02A4E}"/>
              </a:ext>
            </a:extLst>
          </p:cNvPr>
          <p:cNvSpPr>
            <a:spLocks noGrp="1"/>
          </p:cNvSpPr>
          <p:nvPr/>
        </p:nvSpPr>
        <p:spPr>
          <a:xfrm>
            <a:off x="6000750" y="4143375"/>
            <a:ext cx="4476750" cy="666750"/>
          </a:xfrm>
          <a:prstGeom prst="roundRect">
            <a:avLst>
              <a:gd name="adj" fmla="val 17143"/>
            </a:avLst>
          </a:prstGeom>
          <a:solidFill>
            <a:srgbClr val="0D3157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DE820-A0AC-4FC8-8D69-66143E85F4E3}"/>
              </a:ext>
            </a:extLst>
          </p:cNvPr>
          <p:cNvSpPr>
            <a:spLocks noGrp="1"/>
          </p:cNvSpPr>
          <p:nvPr/>
        </p:nvSpPr>
        <p:spPr>
          <a:xfrm>
            <a:off x="6210300" y="43815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l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柱状图、散点图、饼图：支持快速阅读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D7B934-0C81-45EE-B20B-1C91A99BC5FF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 algn="l">
              <a:def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数据更新流程：bike_data.csv → process_data.py → data.json → 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2AA2E4-012F-41CB-AEF7-8793213C426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2B0503-1E93-4960-BBD2-42F06137F73A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1849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03BBB42-FC23-4AF0-8057-10EF03FF4F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五人协作与交付物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7CB2DF-F82E-41E2-B183-053F50E02174}"/>
              </a:ext>
            </a:extLst>
          </p:cNvPr>
          <p:cNvSpPr>
            <a:spLocks noGrp="1"/>
          </p:cNvSpPr>
          <p:nvPr/>
        </p:nvSpPr>
        <p:spPr>
          <a:xfrm>
            <a:off x="628650" y="89535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每位成员负责一个岗位，同时理解完整数据链路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2EC3-583E-4F41-836A-C0D6023EB9C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972800" cy="28575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FF9ACE-66A2-4BD9-8F19-D72F73C3BF1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EAF4FB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BB0BD-4A24-4D0D-A188-D97A6FEBF2E9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CD716-91B9-4393-92A2-314971AFFBBC}"/>
              </a:ext>
            </a:extLst>
          </p:cNvPr>
          <p:cNvSpPr>
            <a:spLocks noGrp="1"/>
          </p:cNvSpPr>
          <p:nvPr/>
        </p:nvSpPr>
        <p:spPr>
          <a:xfrm>
            <a:off x="895350" y="214312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项目管理、后端与数据库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93331-C3AB-4F8D-B2D3-3300BD044D30}"/>
              </a:ext>
            </a:extLst>
          </p:cNvPr>
          <p:cNvSpPr>
            <a:spLocks noGrp="1"/>
          </p:cNvSpPr>
          <p:nvPr/>
        </p:nvSpPr>
        <p:spPr>
          <a:xfrm>
            <a:off x="895350" y="2524125"/>
            <a:ext cx="2571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建库、接口、整合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19C719-D237-47AC-8190-E9B7B89BE2E2}"/>
              </a:ext>
            </a:extLst>
          </p:cNvPr>
          <p:cNvSpPr>
            <a:spLocks noGrp="1"/>
          </p:cNvSpPr>
          <p:nvPr/>
        </p:nvSpPr>
        <p:spPr>
          <a:xfrm>
            <a:off x="4238625" y="161925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6FAFD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47D61-3B9D-4899-A1CB-CF76221E9194}"/>
              </a:ext>
            </a:extLst>
          </p:cNvPr>
          <p:cNvSpPr>
            <a:spLocks noGrp="1"/>
          </p:cNvSpPr>
          <p:nvPr/>
        </p:nvSpPr>
        <p:spPr>
          <a:xfrm>
            <a:off x="4467225" y="18288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429107-9C4A-47CB-836D-911A928442EB}"/>
              </a:ext>
            </a:extLst>
          </p:cNvPr>
          <p:cNvSpPr>
            <a:spLocks noGrp="1"/>
          </p:cNvSpPr>
          <p:nvPr/>
        </p:nvSpPr>
        <p:spPr>
          <a:xfrm>
            <a:off x="4467225" y="214312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数据分析与算法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0B61B5-2CF8-4620-B8C8-4B2B018C8437}"/>
              </a:ext>
            </a:extLst>
          </p:cNvPr>
          <p:cNvSpPr>
            <a:spLocks noGrp="1"/>
          </p:cNvSpPr>
          <p:nvPr/>
        </p:nvSpPr>
        <p:spPr>
          <a:xfrm>
            <a:off x="4467225" y="2524125"/>
            <a:ext cx="2571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清洗、指标、结论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8D8C89-FBAC-4B4D-A416-1BC26B011908}"/>
              </a:ext>
            </a:extLst>
          </p:cNvPr>
          <p:cNvSpPr>
            <a:spLocks noGrp="1"/>
          </p:cNvSpPr>
          <p:nvPr/>
        </p:nvSpPr>
        <p:spPr>
          <a:xfrm>
            <a:off x="7810500" y="161925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6FAFD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3D4BDF-10A0-4331-89E3-6E92296F5E18}"/>
              </a:ext>
            </a:extLst>
          </p:cNvPr>
          <p:cNvSpPr>
            <a:spLocks noGrp="1"/>
          </p:cNvSpPr>
          <p:nvPr/>
        </p:nvSpPr>
        <p:spPr>
          <a:xfrm>
            <a:off x="8039100" y="18288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9B5053-0AEB-492C-B746-83FFA6463F12}"/>
              </a:ext>
            </a:extLst>
          </p:cNvPr>
          <p:cNvSpPr>
            <a:spLocks noGrp="1"/>
          </p:cNvSpPr>
          <p:nvPr/>
        </p:nvSpPr>
        <p:spPr>
          <a:xfrm>
            <a:off x="8039100" y="214312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前端与可视化大屏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77947A-9424-4C66-BF3A-2D162899BE39}"/>
              </a:ext>
            </a:extLst>
          </p:cNvPr>
          <p:cNvSpPr>
            <a:spLocks noGrp="1"/>
          </p:cNvSpPr>
          <p:nvPr/>
        </p:nvSpPr>
        <p:spPr>
          <a:xfrm>
            <a:off x="8039100" y="2524125"/>
            <a:ext cx="2571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ECharts、页面、展示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F082FEA-AF67-4EF4-BF51-73D461E7D428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6FAFD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52FC5B-D867-4F73-A864-6FAAEF9F623D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5272BB-5174-4B9E-B3B1-53DF90B10CA6}"/>
              </a:ext>
            </a:extLst>
          </p:cNvPr>
          <p:cNvSpPr>
            <a:spLocks noGrp="1"/>
          </p:cNvSpPr>
          <p:nvPr/>
        </p:nvSpPr>
        <p:spPr>
          <a:xfrm>
            <a:off x="895350" y="395287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文档与质量控制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65CA02-543B-4A14-8FC6-ED23DEB14636}"/>
              </a:ext>
            </a:extLst>
          </p:cNvPr>
          <p:cNvSpPr>
            <a:spLocks noGrp="1"/>
          </p:cNvSpPr>
          <p:nvPr/>
        </p:nvSpPr>
        <p:spPr>
          <a:xfrm>
            <a:off x="895350" y="4333875"/>
            <a:ext cx="2571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报告、证据、测试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C69AB9-7C7A-4C68-85E0-6F847D589FCC}"/>
              </a:ext>
            </a:extLst>
          </p:cNvPr>
          <p:cNvSpPr>
            <a:spLocks noGrp="1"/>
          </p:cNvSpPr>
          <p:nvPr/>
        </p:nvSpPr>
        <p:spPr>
          <a:xfrm>
            <a:off x="4238625" y="34290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6FAFD"/>
          </a:solidFill>
          <a:ln w="9525">
            <a:solidFill>
              <a:srgbClr val="CDE0EE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D5639C-468B-462D-8931-CB31403D566B}"/>
              </a:ext>
            </a:extLst>
          </p:cNvPr>
          <p:cNvSpPr>
            <a:spLocks noGrp="1"/>
          </p:cNvSpPr>
          <p:nvPr/>
        </p:nvSpPr>
        <p:spPr>
          <a:xfrm>
            <a:off x="4467225" y="363855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1F1DCA-DD91-42CD-8671-7CF658C118DD}"/>
              </a:ext>
            </a:extLst>
          </p:cNvPr>
          <p:cNvSpPr>
            <a:spLocks noGrp="1"/>
          </p:cNvSpPr>
          <p:nvPr/>
        </p:nvSpPr>
        <p:spPr>
          <a:xfrm>
            <a:off x="4467225" y="3952875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技术调研与答辩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0C073E-33AA-4DF0-827A-1FD81B14DB51}"/>
              </a:ext>
            </a:extLst>
          </p:cNvPr>
          <p:cNvSpPr>
            <a:spLocks noGrp="1"/>
          </p:cNvSpPr>
          <p:nvPr/>
        </p:nvSpPr>
        <p:spPr>
          <a:xfrm>
            <a:off x="4467225" y="4333875"/>
            <a:ext cx="2571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调研、PPT、演练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028D2B-5524-4F42-844E-F741C2F526A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4837FE-43DC-4D53-ADA6-0D4E894B82C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123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9C66652-F29D-4D2E-BB81-F188D50F19C6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381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项目总结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F9333-9339-446B-AA11-198C74ABCDB3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476375" cy="38100"/>
          </a:xfrm>
          <a:prstGeom prst="rect">
            <a:avLst/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E2858B-AAE3-4639-9E2C-DA00A8A0E0C9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5A987-8203-4610-BB2E-F7CF612268AF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714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完成真实数据的清洗、统计分析与静态图表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D599EC-A8AA-45B5-A13B-AEBA692B48C7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9595C-FA40-4282-8295-901FE95F6D6A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714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 SQLite 数据导入、KPI 与天气查询接口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08344E-3286-4442-A8B5-8E936388D91C}"/>
              </a:ext>
            </a:extLst>
          </p:cNvPr>
          <p:cNvSpPr>
            <a:spLocks noGrp="1"/>
          </p:cNvSpPr>
          <p:nvPr/>
        </p:nvSpPr>
        <p:spPr>
          <a:xfrm>
            <a:off x="819150" y="34480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D011A6-E1BE-45D5-99AE-95F3339B0E4B}"/>
              </a:ext>
            </a:extLst>
          </p:cNvPr>
          <p:cNvSpPr>
            <a:spLocks noGrp="1"/>
          </p:cNvSpPr>
          <p:nvPr/>
        </p:nvSpPr>
        <p:spPr>
          <a:xfrm>
            <a:off x="1009650" y="3352800"/>
            <a:ext cx="714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 ECharts 数据大屏与项目实施证据整理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9A50D7-EB7F-4EC0-B26E-3702A9EF346B}"/>
              </a:ext>
            </a:extLst>
          </p:cNvPr>
          <p:cNvSpPr>
            <a:spLocks noGrp="1"/>
          </p:cNvSpPr>
          <p:nvPr/>
        </p:nvSpPr>
        <p:spPr>
          <a:xfrm>
            <a:off x="819150" y="40767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19C1D1"/>
          </a:solidFill>
          <a:ln w="0"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3E47F3-8832-4539-B88C-996AB65E47C6}"/>
              </a:ext>
            </a:extLst>
          </p:cNvPr>
          <p:cNvSpPr>
            <a:spLocks noGrp="1"/>
          </p:cNvSpPr>
          <p:nvPr/>
        </p:nvSpPr>
        <p:spPr>
          <a:xfrm>
            <a:off x="1009650" y="3981450"/>
            <a:ext cx="7143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保留需求预测和实时数据接入的扩展空间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933385-F3A7-41E5-B187-EAEE34335085}"/>
              </a:ext>
            </a:extLst>
          </p:cNvPr>
          <p:cNvSpPr>
            <a:spLocks noGrp="1"/>
          </p:cNvSpPr>
          <p:nvPr/>
        </p:nvSpPr>
        <p:spPr>
          <a:xfrm>
            <a:off x="723900" y="5886450"/>
            <a:ext cx="8572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92"/>
          </a:bodyPr>
          <a:lstStyle/>
          <a:p>
            <a:pPr algn="l">
              <a:defRPr sz="12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rPr>
              <a:t>答辩演示：数据库 → 接口 → 大屏 → 测试</a:t>
            </a:r>
          </a:p>
        </p:txBody>
      </p:sp>
    </p:spTree>
    <p:extLst>
      <p:ext uri="{BB962C8B-B14F-4D97-AF65-F5344CB8AC3E}">
        <p14:creationId xmlns:p14="http://schemas.microsoft.com/office/powerpoint/2010/main" val="3550744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Macintosh PowerPoint</Application>
  <DocSecurity>0</DocSecurity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Power E</cp:lastModifiedBy>
  <cp:revision>2</cp:revision>
  <dcterms:created xsi:type="dcterms:W3CDTF">2026-09-04T07:58:08Z</dcterms:created>
  <dcterms:modified xsi:type="dcterms:W3CDTF">2026-09-04T08:11:21Z</dcterms:modified>
</cp:coreProperties>
</file>