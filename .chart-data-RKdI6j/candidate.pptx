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ab9d871a1042e7" /><Relationship Type="http://schemas.openxmlformats.org/officeDocument/2006/relationships/extended-properties" Target="/docProps/app.xml" Id="R2a7a290bbbbd42fd" /><Relationship Type="http://schemas.openxmlformats.org/officeDocument/2006/relationships/officeDocument" Target="/ppt/presentation.xml" Id="Rada735aadc9a45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840967f8ee4cb6"/>
  </p:sldMasterIdLst>
  <p:notesMasterIdLst>
    <p:notesMasterId xmlns:r="http://schemas.openxmlformats.org/officeDocument/2006/relationships" r:id="R66442cdced254296"/>
  </p:notesMasterIdLst>
  <p:sldIdLst>
    <p:sldId xmlns:r="http://schemas.openxmlformats.org/officeDocument/2006/relationships" id="256" r:id="R824ac032935442ea"/>
    <p:sldId xmlns:r="http://schemas.openxmlformats.org/officeDocument/2006/relationships" id="257" r:id="Rbdad4834a03b48f0"/>
    <p:sldId xmlns:r="http://schemas.openxmlformats.org/officeDocument/2006/relationships" id="258" r:id="Racd2681aec5e452b"/>
    <p:sldId xmlns:r="http://schemas.openxmlformats.org/officeDocument/2006/relationships" id="259" r:id="R3b4dfe0ce0b84d16"/>
    <p:sldId xmlns:r="http://schemas.openxmlformats.org/officeDocument/2006/relationships" id="260" r:id="Rfc4390ce7d75411f"/>
    <p:sldId xmlns:r="http://schemas.openxmlformats.org/officeDocument/2006/relationships" id="261" r:id="R4cc087f0bd7d4843"/>
    <p:sldId xmlns:r="http://schemas.openxmlformats.org/officeDocument/2006/relationships" id="262" r:id="R565c82d2329b47e7"/>
    <p:sldId xmlns:r="http://schemas.openxmlformats.org/officeDocument/2006/relationships" id="263" r:id="Rb758a36bfdb64676"/>
    <p:sldId xmlns:r="http://schemas.openxmlformats.org/officeDocument/2006/relationships" id="264" r:id="R481ad0e20ca94066"/>
    <p:sldId xmlns:r="http://schemas.openxmlformats.org/officeDocument/2006/relationships" id="265" r:id="Raaa8625030364b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3ace2cd68b43db" /><Relationship Type="http://schemas.openxmlformats.org/officeDocument/2006/relationships/slideMaster" Target="/ppt/slideMasters/slideMaster1.xml" Id="R47840967f8ee4cb6" /><Relationship Type="http://schemas.openxmlformats.org/officeDocument/2006/relationships/notesMaster" Target="/ppt/notesMasters/notesMaster1.xml" Id="R66442cdced254296" /><Relationship Type="http://schemas.openxmlformats.org/officeDocument/2006/relationships/presProps" Target="/ppt/presProps.xml" Id="Rbc0ef59e9778448c" /><Relationship Type="http://schemas.openxmlformats.org/officeDocument/2006/relationships/tableStyles" Target="/ppt/tableStyles.xml" Id="R1f670c1d72684eb8" /><Relationship Type="http://schemas.openxmlformats.org/officeDocument/2006/relationships/slide" Target="/ppt/slides/slide1.xml" Id="R824ac032935442ea" /><Relationship Type="http://schemas.openxmlformats.org/officeDocument/2006/relationships/slide" Target="/ppt/slides/slide2.xml" Id="Rbdad4834a03b48f0" /><Relationship Type="http://schemas.openxmlformats.org/officeDocument/2006/relationships/slide" Target="/ppt/slides/slide3.xml" Id="Racd2681aec5e452b" /><Relationship Type="http://schemas.openxmlformats.org/officeDocument/2006/relationships/slide" Target="/ppt/slides/slide4.xml" Id="R3b4dfe0ce0b84d16" /><Relationship Type="http://schemas.openxmlformats.org/officeDocument/2006/relationships/slide" Target="/ppt/slides/slide5.xml" Id="Rfc4390ce7d75411f" /><Relationship Type="http://schemas.openxmlformats.org/officeDocument/2006/relationships/slide" Target="/ppt/slides/slide6.xml" Id="R4cc087f0bd7d4843" /><Relationship Type="http://schemas.openxmlformats.org/officeDocument/2006/relationships/slide" Target="/ppt/slides/slide7.xml" Id="R565c82d2329b47e7" /><Relationship Type="http://schemas.openxmlformats.org/officeDocument/2006/relationships/slide" Target="/ppt/slides/slide8.xml" Id="Rb758a36bfdb64676" /><Relationship Type="http://schemas.openxmlformats.org/officeDocument/2006/relationships/slide" Target="/ppt/slides/slide9.xml" Id="R481ad0e20ca94066" /><Relationship Type="http://schemas.openxmlformats.org/officeDocument/2006/relationships/slide" Target="/ppt/slides/slide10.xml" Id="Raaa8625030364b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15db0756964d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bb28cc01494f6e" /><Relationship Type="http://schemas.openxmlformats.org/officeDocument/2006/relationships/notesMaster" Target="/ppt/notesMasters/notesMaster1.xml" Id="Rc35f41900d5e4b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2ba4359719403d" /><Relationship Type="http://schemas.openxmlformats.org/officeDocument/2006/relationships/notesMaster" Target="/ppt/notesMasters/notesMaster1.xml" Id="R8dd14aa93b0c4b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b7042a900e4239" /><Relationship Type="http://schemas.openxmlformats.org/officeDocument/2006/relationships/notesMaster" Target="/ppt/notesMasters/notesMaster1.xml" Id="R53d32e8aa1b348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08bcc5acc34058" /><Relationship Type="http://schemas.openxmlformats.org/officeDocument/2006/relationships/notesMaster" Target="/ppt/notesMasters/notesMaster1.xml" Id="Rdf5cbe1fac084a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7fef8f95464628" /><Relationship Type="http://schemas.openxmlformats.org/officeDocument/2006/relationships/notesMaster" Target="/ppt/notesMasters/notesMaster1.xml" Id="R0b2f82c1c58041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038dd6f1ee4864" /><Relationship Type="http://schemas.openxmlformats.org/officeDocument/2006/relationships/notesMaster" Target="/ppt/notesMasters/notesMaster1.xml" Id="Re9067febe03042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f8dd9f6b8e493b" /><Relationship Type="http://schemas.openxmlformats.org/officeDocument/2006/relationships/notesMaster" Target="/ppt/notesMasters/notesMaster1.xml" Id="R612b1f5a777542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2fec588b7c4380" /><Relationship Type="http://schemas.openxmlformats.org/officeDocument/2006/relationships/notesMaster" Target="/ppt/notesMasters/notesMaster1.xml" Id="Reffb0ed5fe4942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a7505e6f2b4b26" /><Relationship Type="http://schemas.openxmlformats.org/officeDocument/2006/relationships/notesMaster" Target="/ppt/notesMasters/notesMaster1.xml" Id="Rc82e4a191f4142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09361f08bb4b78" /><Relationship Type="http://schemas.openxmlformats.org/officeDocument/2006/relationships/notesMaster" Target="/ppt/notesMasters/notesMaster1.xml" Id="R79f078d4556248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封面。演讲者：成员 1。数据来源见项目数据说明与报告。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演讲者：成员 1。说明项目不是单纯画图，而是包含数据、数据库与前端三层。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演讲者：成员 1。右侧图片为项目实际数据获取截图。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演讲者：成员 1。完整结构图见项目 docs/code-structure.svg。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演讲者：成员 2。数据结论：17 点最高；天气统计仅说明关联趋势，不宣称因果。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演讲者：成员 1。右侧是实际导入成功截图。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演讲者：成员 1。右侧是项目实际 KPI 与天气查询测试截图。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演讲者：成员 3。现场可启动 web/dashboard 的 http.server 后展示真实页面。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演讲者：成员 4 或成员 5。正式分工见 docs/team-plan.md。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演讲者：成员 5。总结项目价值和可扩展方向，进入提问环节。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ad8d9fed8342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3d79289c4146b1" /><Relationship Type="http://schemas.openxmlformats.org/officeDocument/2006/relationships/slideLayout" Target="/ppt/slideLayouts/slideLayout1.xml" Id="Rd57a36f4af0c4c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7a36f4af0c4c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c37cfb9f684bc5" /><Relationship Type="http://schemas.openxmlformats.org/officeDocument/2006/relationships/notesSlide" Target="/ppt/notesSlides/notesSlide1.xml" Id="R2e14af86bd6d45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ebec2987b4891" /><Relationship Type="http://schemas.openxmlformats.org/officeDocument/2006/relationships/notesSlide" Target="/ppt/notesSlides/notesSlide2.xml" Id="R792afc43030943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3e2d520e4420a" /><Relationship Type="http://schemas.openxmlformats.org/officeDocument/2006/relationships/image" Target="/ppt/media/image.jpeg" Id="R7df80c369281482e" /><Relationship Type="http://schemas.openxmlformats.org/officeDocument/2006/relationships/notesSlide" Target="/ppt/notesSlides/notesSlide3.xml" Id="R997e9b7126484a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0093277cf4467" /><Relationship Type="http://schemas.openxmlformats.org/officeDocument/2006/relationships/notesSlide" Target="/ppt/notesSlides/notesSlide4.xml" Id="R118a459f189b48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2db1dfa9f4d5a" /><Relationship Type="http://schemas.openxmlformats.org/officeDocument/2006/relationships/chart" Target="/ppt/slides/charts/chart1.xml" Id="R8e8ea4acc8a14000" /><Relationship Type="http://schemas.openxmlformats.org/officeDocument/2006/relationships/chart" Target="/ppt/slides/charts/chart2.xml" Id="R59695cee308b453c" /><Relationship Type="http://schemas.openxmlformats.org/officeDocument/2006/relationships/notesSlide" Target="/ppt/notesSlides/notesSlide5.xml" Id="R33fcf16197954c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085c405b7499d" /><Relationship Type="http://schemas.openxmlformats.org/officeDocument/2006/relationships/image" Target="/ppt/media/image2.jpeg" Id="R9afbbb29be5e4a7e" /><Relationship Type="http://schemas.openxmlformats.org/officeDocument/2006/relationships/notesSlide" Target="/ppt/notesSlides/notesSlide6.xml" Id="R32062c7166b442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e4aeb3f08413d" /><Relationship Type="http://schemas.openxmlformats.org/officeDocument/2006/relationships/image" Target="/ppt/media/image3.jpeg" Id="Rf89db709839746e9" /><Relationship Type="http://schemas.openxmlformats.org/officeDocument/2006/relationships/notesSlide" Target="/ppt/notesSlides/notesSlide7.xml" Id="R3b793e587f5f4d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078ff82cd429b" /><Relationship Type="http://schemas.openxmlformats.org/officeDocument/2006/relationships/notesSlide" Target="/ppt/notesSlides/notesSlide8.xml" Id="R97cfab98540f4b1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977389ba614a99" /><Relationship Type="http://schemas.openxmlformats.org/officeDocument/2006/relationships/notesSlide" Target="/ppt/notesSlides/notesSlide9.xml" Id="Rdb0e5228aebd4b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2a65b1a544e8b" /><Relationship Type="http://schemas.openxmlformats.org/officeDocument/2006/relationships/notesSlide" Target="/ppt/notesSlides/notesSlide10.xml" Id="R0fcd8bb316cd4d2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平均租车量</c:v>
          </c:tx>
          <c:spPr>
            <a:solidFill xmlns:a="http://schemas.openxmlformats.org/drawingml/2006/main">
              <a:srgbClr val="0B79D0"/>
            </a:solidFill>
          </c:spPr>
          <c:marker>
            <c:symbol val="none"/>
          </c:marker>
          <c:cat>
            <c:numRef>
              <c:f>'Chart Data'!$A$2:$A$9</c:f>
              <c:numCache>
                <c:formatCode>General</c:formatCode>
                <c:ptCount val="8"/>
                <c:pt idx="0">
                  <c:v>0</c:v>
                </c:pt>
                <c:pt idx="1">
                  <c:v>3</c:v>
                </c:pt>
                <c:pt idx="2">
                  <c:v>6</c:v>
                </c:pt>
                <c:pt idx="3">
                  <c:v>8</c:v>
                </c:pt>
                <c:pt idx="4">
                  <c:v>12</c:v>
                </c:pt>
                <c:pt idx="5">
                  <c:v>17</c:v>
                </c:pt>
                <c:pt idx="6">
                  <c:v>20</c:v>
                </c:pt>
                <c:pt idx="7">
                  <c:v>23</c:v>
                </c:pt>
              </c:numCache>
            </c:num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53</c:v>
                </c:pt>
                <c:pt idx="1">
                  <c:v>6</c:v>
                </c:pt>
                <c:pt idx="2">
                  <c:v>76</c:v>
                </c:pt>
                <c:pt idx="3">
                  <c:v>359</c:v>
                </c:pt>
                <c:pt idx="4">
                  <c:v>253</c:v>
                </c:pt>
                <c:pt idx="5">
                  <c:v>461</c:v>
                </c:pt>
                <c:pt idx="6">
                  <c:v>350</c:v>
                </c:pt>
                <c:pt idx="7">
                  <c:v>87</c:v>
                </c:pt>
              </c:numCache>
            </c:numRef>
          </c:val>
          <c:smooth val="1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平均租车量</c:v>
          </c:tx>
          <c:spPr>
            <a:solidFill xmlns:a="http://schemas.openxmlformats.org/drawingml/2006/main">
              <a:srgbClr val="19C1D1"/>
            </a:solidFill>
          </c:spPr>
          <c:cat>
            <c:strRef>
              <c:f>'Chart Data'!$A$2:$A$5</c:f>
              <c:strCache>
                <c:ptCount val="4"/>
                <c:pt idx="0">
                  <c:v>晴朗</c:v>
                </c:pt>
                <c:pt idx="1">
                  <c:v>雾/多云</c:v>
                </c:pt>
                <c:pt idx="2">
                  <c:v>小雨雪</c:v>
                </c:pt>
                <c:pt idx="3">
                  <c:v>强雨雪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205</c:v>
                </c:pt>
                <c:pt idx="1">
                  <c:v>175</c:v>
                </c:pt>
                <c:pt idx="2">
                  <c:v>112</c:v>
                </c:pt>
                <c:pt idx="3">
                  <c:v>74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FBB539-FFDB-4285-8DBD-98D57E9A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3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83285-79C3-438B-90A3-CD525CC9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15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DA916-2B1E-4C51-A505-B1BB5DFB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904875"/>
            <a:ext cx="27622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0C4E7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C83B3-6FA1-4834-8D7C-41778BD2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71625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35068-D133-418F-969D-CDEDD922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6572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共享单车租赁需求分析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14EB8D-8A58-47E6-981A-FE830CAB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rPr>
              <a:t>数据库查询与可视化大屏系统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B39F19-86C6-4A3D-A081-850EFD4E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04CE0-EB0C-498A-90A3-FC66959D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5E5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D5E5F1"/>
                </a:solidFill>
                <a:latin typeface="Helvetica Neue"/>
                <a:ea typeface="Helvetica Neue"/>
                <a:cs typeface="Helvetica Neue"/>
              </a:rPr>
              <a:t>软件开发实践 1 · 数据分析与可视化方向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B6590C-DE94-4A4C-BC8D-72D0B54F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33875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rPr>
              <a:t>五人课程项目答辩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1234FF-51D3-4ED6-9210-A437A5213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B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8AB4D4"/>
                </a:solidFill>
                <a:latin typeface="Helvetica Neue"/>
                <a:ea typeface="Helvetica Neue"/>
                <a:cs typeface="Helvetica Neue"/>
              </a:rPr>
              <a:t>数据来源：UCI Bike Sharing Dataset / Kaggle Bike Sharing Demand</a:t>
            </a:r>
          </a:p>
        </p:txBody>
      </p:sp>
    </p:spTree>
    <p:extLst>
      <p:ext uri="{BB962C8B-B14F-4D97-AF65-F5344CB8AC3E}">
        <p14:creationId xmlns:p14="http://schemas.microsoft.com/office/powerpoint/2010/main" val="3946312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671902-A44B-4558-8195-2667B174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项目问题与交付范围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3BD76-ADD6-4D41-8970-FB1722C7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从共享单车需求数据到数据库查询与前端展示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BD72D-9846-4331-B336-6B9F5D39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AC6E55-3870-4736-8364-3CC48D95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我们希望回答的运营问题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62A2D-513B-48E4-9746-F2CE8E7A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F26B74-4ACA-4EFF-930E-7B3EED50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一天中哪些时段租车需求最高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52242F-6AA9-4575-B141-58375538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03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92DC5-AC01-4E5A-BC39-1FDF503D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天气变化会带来怎样的租车量差异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2DD770-3088-408F-A5F5-8FFA2ABF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E68D69-6CAC-4F6E-8140-48A2A7EF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注册用户和临时用户的使用结构如何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A88DEE-842F-48F6-A180-A90EDF44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24000"/>
            <a:ext cx="4762500" cy="40005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CDE0E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92894-E2B7-48C2-9424-0EBEBC57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573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rPr>
              <a:t>项目交付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3269B9-18EA-47EB-B6C3-18B4A4D5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955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613049-4F06-4067-BFF7-FFD80B99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003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Python 数据清洗与统计分析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B75BAD-75EF-4EA3-9F40-A5F5A44F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480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D6A02E-E978-4FD5-A1C1-A22B4401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527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SQLite 建库、导入与查询接口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188B80-C792-4BF6-BC91-3B59F710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004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4D04A9-F9EE-4376-A6CB-8FC72A1F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052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ECharts 数据大屏与完整文档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8A5C27-1CB7-47D2-B308-BF721468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核心思路：分析、数据库和页面分层实现，便于测试与展示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79B2BC-7D36-44EC-8546-E846A71D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共享单车租赁需求分析、数据库查询与可视化大屏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94C3A3-8FEC-4665-B98F-E65810D6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918028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4ED48E-D1D2-4F00-AF2F-900FD9D9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真实数据来源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ADBA4-2C25-401C-8C73-D726C182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UCI 用于小时级分析，Kaggle 整理数据用于数据库与大屏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9E4DE-47A7-4118-81DB-DF60F719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f80c369281482e"/>
          <a:stretch xmlns:a="http://schemas.openxmlformats.org/drawingml/2006/main"/>
        </p:blipFill>
        <p:spPr>
          <a:xfrm xmlns:a="http://schemas.openxmlformats.org/drawingml/2006/main">
            <a:off x="6191250" y="1973641"/>
            <a:ext cx="5048250" cy="306311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50C226-1D23-4FA2-931E-837EFE88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数据使用方式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E4E806-6A2A-4BC2-9A98-978B5F7F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02962-9019-4511-AB24-E328DDF7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43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UCI hour.csv：17,379 条小时记录，用于清洗、统计和静态图表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32A7A4-B95D-4419-9D82-F8516E06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337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AE9111-31CE-462E-B598-0A9170A0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384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2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Kaggle bike_data.csv：10,886 条记录，用于 SQLite、查询接口和前端 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DEE1E-276B-4CF2-BC43-3B1B07FF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814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7886DD-DAC8-412E-B0C0-F6F0E750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两份数据均包含时间、天气、用户数量和总租车量等核心字段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DF62AF-B099-4406-98B0-6CE6A058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483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Kaggle 页面截图保留为数据获取过程证据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5373A1-3967-4991-8A37-91B20BEE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共享单车租赁需求分析、数据库查询与可视化大屏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859F3E-7C1C-46C8-850C-D7872FAA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754804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1E0A58-912F-4E30-9311-1FB2BCD1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系统架构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AA087-ADCC-47F8-AC99-E4C11381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三条数据链路共同组成完整项目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15EB2-6BDA-43DD-BD19-97925F13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5F773-63A7-4D44-8C42-63904DB9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2857500" cy="2952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9525">
            <a:solidFill>
              <a:srgbClr val="CDE0E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3872D-2D8B-468F-9238-05FC9801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24075"/>
            <a:ext cx="238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25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rPr>
              <a:t>静态分析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53484-8894-45CB-A5AA-0057ADA5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324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UCI hour.csv</a:t>
            </a:r>
          </a:p>
          <a:p xmlns:a="http://schemas.openxmlformats.org/drawingml/2006/main">
            <a:pPr algn="l">
              <a:def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loader → cleaner → metrics → charts</a:t>
            </a:r>
          </a:p>
          <a:p xmlns:a="http://schemas.openxmlformats.org/drawingml/2006/main">
            <a:pPr algn="l">
              <a:def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输出 PNG 分析图表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82D89-2ECC-42D6-B07A-B6CE3ADF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2857500" cy="2952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CDE0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5383E-0E99-44F9-8262-5666B25F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24075"/>
            <a:ext cx="238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25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rPr>
              <a:t>数据库查询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EBC6FD-E1D1-44E8-8BEC-5DD5302C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86050"/>
            <a:ext cx="2324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Kaggle CSV</a:t>
            </a:r>
          </a:p>
          <a:p xmlns:a="http://schemas.openxmlformats.org/drawingml/2006/main">
            <a:pPr algn="l">
              <a:def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init_db → SQLite → db_helper → API</a:t>
            </a:r>
          </a:p>
          <a:p xmlns:a="http://schemas.openxmlformats.org/drawingml/2006/main">
            <a:pPr algn="l">
              <a:def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返回 KPI、天气、小时查询结果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C96D7-CCB4-4C29-9A7F-5F422002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09750"/>
            <a:ext cx="2857500" cy="2952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9525">
            <a:solidFill>
              <a:srgbClr val="CDE0E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8278E5-754C-4D4D-BDD3-5D9D6D76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24075"/>
            <a:ext cx="2381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25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rPr>
              <a:t>前端大屏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C6204D-68CB-465F-9B6E-948EA0CE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86050"/>
            <a:ext cx="2324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Kaggle CSV</a:t>
            </a:r>
          </a:p>
          <a:p xmlns:a="http://schemas.openxmlformats.org/drawingml/2006/main">
            <a:pPr algn="l">
              <a:def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process_data → data.json → ECharts</a:t>
            </a:r>
          </a:p>
          <a:p xmlns:a="http://schemas.openxmlformats.org/drawingml/2006/main">
            <a:pPr algn="l">
              <a:def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输出浏览器端仪表盘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C55D26-FFCF-4C64-BBAA-B2C271A4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86375"/>
            <a:ext cx="962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测试覆盖 UCI 分析流程和 SQLite 导入查询流程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4CF0A7-F9EE-4485-AF4A-2A467BD2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共享单车租赁需求分析、数据库查询与可视化大屏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EBF528-60DE-482D-B3BB-95A054D8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590876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F2F9BE-29E7-40A1-B1EF-48F63725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小时需求与天气差异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CC1A5-0DE7-4348-8B52-FF6F0523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统计结果来自 UCI 小时级数据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C8282-6544-4808-8CC4-D9BD51CE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47700" y="1619250"/>
          <a:ext xmlns:a="http://schemas.openxmlformats.org/drawingml/2006/main" cx="5905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8ea4acc8a14000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991350" y="1828800"/>
          <a:ext xmlns:a="http://schemas.openxmlformats.org/drawingml/2006/main" cx="4095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695cee308b453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C2BE2-E662-4DAB-A883-E2EF786D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721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rPr>
              <a:t>17 点平均租车量最高，约 461 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8BAC5-59FD-46C6-9DC3-1A6BFE24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57212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天气越恶劣，平均租车量越低。该结果属于描述性统计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7DC060-A315-46E8-8FBC-E4F440D8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共享单车租赁需求分析、数据库查询与可视化大屏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7518AF-B005-4E71-ACF0-E90B14BD8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740557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62AE3E-1EC3-469C-97CD-7F7BA5F0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SQLite 建库与数据导入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9FDA6-6079-4A6F-B730-6737048C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Kaggle 整理后的 CSV 写入 bike_usage 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2F336-6547-4D51-A88A-81EF9F16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fbbb29be5e4a7e"/>
          <a:stretch xmlns:a="http://schemas.openxmlformats.org/drawingml/2006/main"/>
        </p:blipFill>
        <p:spPr>
          <a:xfrm xmlns:a="http://schemas.openxmlformats.org/drawingml/2006/main">
            <a:off x="5810250" y="1861228"/>
            <a:ext cx="5429250" cy="3230795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C82B3-1854-476F-9F1C-06FA72AC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实现内容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7132B-38DE-4D1B-86CD-CAE6F408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DB848E-1FD9-4D1F-A2B2-84CA003D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383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读取 bike_data.csv 并检查 12 个业务字段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76E3B7-B320-464D-AFB9-47908326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7B4D8-C5D8-4A1B-B942-F5731E48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289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创建 bike_usage 表，建立时间和天气索引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07E2A8-EB80-4BC0-ADAF-685E1C54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D5E959-D1F6-4143-92AF-CE857B81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194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数据库文件随项目提交，便于现场复现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F6F40-C01C-4531-B122-64E04C46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rPr>
              <a:t>对应代码：database/init_db.py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B5E229-45D6-488E-8599-CEA3AF82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共享单车租赁需求分析、数据库查询与可视化大屏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4902C4-32E8-42FF-A7CA-0945F0DF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219077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10D47C-F143-4C44-91C3-7191DB39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查询接口与数据服务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116D65-4A59-46CD-B6CC-8796E5E0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KPI、天气和小时统计封装为可复用接口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20118-1AA6-4E61-BEA8-6762ACB8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9db709839746e9"/>
          <a:stretch xmlns:a="http://schemas.openxmlformats.org/drawingml/2006/main"/>
        </p:blipFill>
        <p:spPr>
          <a:xfrm xmlns:a="http://schemas.openxmlformats.org/drawingml/2006/main">
            <a:off x="6048375" y="1832268"/>
            <a:ext cx="5143500" cy="3193464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917E3A-EA9A-4A91-B87B-2B16184D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三个查询接口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B81020-DA22-4BC5-B390-414941BE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E1C88-5E3A-44EE-A23F-46FE623A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38375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get_kpi_summary：总租车量、用户数量、平均温度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B0F5E-30FF-436B-9069-8F1860E2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2417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5044C-C995-4112-B480-833B6A6F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28925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get_weather_stat：按天气编码汇总租车量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63EDB-AD02-44F1-BD51-C90C367B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40F91E-B9A0-41DB-A63B-E1D86A68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19475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get_hourly_stat：按小时计算平均租车量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E5B33F-6694-4DD0-8E13-89017DB0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rPr>
              <a:t>接口测试结果：总租车量 2,085,476 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67EF50-63D4-4430-96D1-2834BDA4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共享单车租赁需求分析、数据库查询与可视化大屏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352931-DAF7-4A91-8620-8D25798B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810256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914B0D-B837-43AB-8F9E-B46D4C12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ECharts 数据大屏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12055-D98D-4B6C-B172-1FFB1583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前端读取 data.json 并展示关键指标与趋势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9FEB4-D561-43FC-80B7-3D2652F8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0EDCA9-9741-4B0A-A447-0A2CF417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108585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71B33"/>
          </a:solidFill>
          <a:ln xmlns:a="http://schemas.openxmlformats.org/drawingml/2006/main" w="9525">
            <a:solidFill>
              <a:srgbClr val="0B79D0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F38C7A-7A43-449F-A70E-DA67E90D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478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共享单车租车数据分析大屏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52D30-C4A4-4ADD-8D3B-40916F69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81250"/>
            <a:ext cx="2095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C4A"/>
          </a:solidFill>
          <a:ln xmlns:a="http://schemas.openxmlformats.org/drawingml/2006/main" w="9525">
            <a:solidFill>
              <a:srgbClr val="1B4E7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CB08A-F312-432E-9257-7C787EFA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5717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9C1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9C1D1"/>
                </a:solidFill>
                <a:latin typeface="Helvetica Neue"/>
                <a:ea typeface="Helvetica Neue"/>
                <a:cs typeface="Helvetica Neue"/>
              </a:rPr>
              <a:t>2,085,476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7C98E0-BE4D-45A8-946D-A512947C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000375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rPr>
              <a:t>总租车数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CE427-C93A-4758-BA6F-461F212EA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2095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C4A"/>
          </a:solidFill>
          <a:ln xmlns:a="http://schemas.openxmlformats.org/drawingml/2006/main" w="9525">
            <a:solidFill>
              <a:srgbClr val="1B4E7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810742-3C47-43B5-947F-2C616F15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5717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9C1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9C1D1"/>
                </a:solidFill>
                <a:latin typeface="Helvetica Neue"/>
                <a:ea typeface="Helvetica Neue"/>
                <a:cs typeface="Helvetica Neue"/>
              </a:rPr>
              <a:t>4,573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D5921F-303E-464E-8D9D-86819436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000375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rPr>
              <a:t>日均租车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1DB73D-23B6-491A-BAF7-C2AE7421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81250"/>
            <a:ext cx="2095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C4A"/>
          </a:solidFill>
          <a:ln xmlns:a="http://schemas.openxmlformats.org/drawingml/2006/main" w="9525">
            <a:solidFill>
              <a:srgbClr val="1B4E7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599DFB-60EA-4656-B881-5CFF325B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5717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9C1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9C1D1"/>
                </a:solidFill>
                <a:latin typeface="Helvetica Neue"/>
                <a:ea typeface="Helvetica Neue"/>
                <a:cs typeface="Helvetica Neue"/>
              </a:rPr>
              <a:t>8,714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F8F265-B71D-45AE-8A0D-A948C1FB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000375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rPr>
              <a:t>最高单日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305EE8-7A3A-42A6-A2D4-C59E2BE9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2095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2C4A"/>
          </a:solidFill>
          <a:ln xmlns:a="http://schemas.openxmlformats.org/drawingml/2006/main" w="9525">
            <a:solidFill>
              <a:srgbClr val="1B4E7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D9E28B-3491-4986-A4D6-1263C7A9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5717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9C1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9C1D1"/>
                </a:solidFill>
                <a:latin typeface="Helvetica Neue"/>
                <a:ea typeface="Helvetica Neue"/>
                <a:cs typeface="Helvetica Neue"/>
              </a:rPr>
              <a:t>81.2%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D7CB67-AB2C-4E97-B095-E2D56203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000375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rPr>
              <a:t>注册用户占比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209243-C2D6-41DD-8368-839BCB98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6237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月度趋势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B053E7-169E-4E42-884B-C0BC2DC6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43375"/>
            <a:ext cx="4286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D315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BD9295-138E-461E-ABBF-ACDA8C16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8150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rPr>
              <a:t>折线图：观察需求在不同月份的变化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D8E6C4-5D86-4AA2-BB9C-C9CF2EE0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62375"/>
            <a:ext cx="352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小时 / 季节 / 温度 / 用户结构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2469B6-0567-4226-99D7-228C4FB0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143375"/>
            <a:ext cx="4476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D315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3DE820-A0AC-4FC8-8D69-66143E85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815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8D9F1"/>
                </a:solidFill>
                <a:latin typeface="Helvetica Neue"/>
                <a:ea typeface="Helvetica Neue"/>
                <a:cs typeface="Helvetica Neue"/>
              </a:rPr>
              <a:t>柱状图、散点图、饼图：支持快速阅读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D7B934-0C81-45EE-B20B-1C91A99B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数据更新流程：bike_data.csv → process_data.py → data.json → index.html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2AA2E4-012F-41CB-AEF7-8793213C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共享单车租赁需求分析、数据库查询与可视化大屏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2B0503-1E93-4960-BBD2-42F06137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318494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3BBB42-FC23-4AF0-8057-10EF03FF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五人协作与交付物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7CB2DF-F82E-41E2-B183-053F50E0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每位成员负责一个岗位，同时理解完整数据链路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52EC3-583E-4F41-836A-C0D6023E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F9ACE-66A2-4BD9-8F19-D72F73C3B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CDE0E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BB0BD-4A24-4D0D-A188-D97A6FEB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288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rPr>
              <a:t>成员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8CD716-91B9-4393-92A2-314971AF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431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项目管理、后端与数据库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293331-C3AB-4F8D-B2D3-3300BD04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建库、接口、整合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19C719-D237-47AC-8190-E9B7B89BE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1925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9525">
            <a:solidFill>
              <a:srgbClr val="CDE0E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247D61-3B9D-4899-A1CB-CF76221E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8288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rPr>
              <a:t>成员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429107-9C4A-47CB-836D-911A9284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1431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数据分析与算法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0B61B5-2CF8-4620-B8C8-4B2B018C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52412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清洗、指标、结论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8D8C89-FBAC-4B4D-A416-1BC26B01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9525">
            <a:solidFill>
              <a:srgbClr val="CDE0E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3D4BDF-10A0-4331-89E3-6E92296F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288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rPr>
              <a:t>成员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9B5053-0AEB-492C-B746-83FFA646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431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前端与可视化大屏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77947A-9424-4C66-BF3A-2D162899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2412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ECharts、页面、展示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082FEA-AF67-4EF4-BF51-73D461E7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9525">
            <a:solidFill>
              <a:srgbClr val="CDE0E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52FC5B-D867-4F73-A864-6FAAEF9F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rPr>
              <a:t>成员 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5272BB-5174-4B9E-B3B1-53DF90B1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528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文档与质量控制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65CA02-543B-4A14-8FC6-ED23DEB1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338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报告、证据、测试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C69AB9-7C7A-4C68-85E0-6F847D58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429000"/>
            <a:ext cx="314325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9525">
            <a:solidFill>
              <a:srgbClr val="CDE0E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D5639C-468B-462D-8931-CB31403D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638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B79D0"/>
                </a:solidFill>
                <a:latin typeface="Helvetica Neue"/>
                <a:ea typeface="Helvetica Neue"/>
                <a:cs typeface="Helvetica Neue"/>
              </a:rPr>
              <a:t>成员 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1F1DCA-DD91-42CD-8671-7CF658C1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9528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43B"/>
                </a:solidFill>
                <a:latin typeface="Helvetica Neue"/>
                <a:ea typeface="Helvetica Neue"/>
                <a:cs typeface="Helvetica Neue"/>
              </a:rPr>
              <a:t>技术调研与答辩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0C073E-33AA-4DF0-827A-1FD81B14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333875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调研、PPT、演练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8E6407-1C47-4E8B-BB40-9F0B9436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答辩前全员完成一次“建库 → 查询 → 生成 JSON → 启动大屏 → 运行测试”的交叉演练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028D2B-5524-4F42-844E-F741C2F5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共享单车租赁需求分析、数据库查询与可视化大屏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4837FE-43DC-4D53-ADA6-0D4E894B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87084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812362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B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C66652-F29D-4D2E-BB81-F188D50F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项目总结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6F9333-9339-446B-AA11-198C74AB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1476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2858B-AAE3-4639-9E2C-DA00A8A0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5A987-8203-4610-BB2E-F7CF6122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5E5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5E5F1"/>
                </a:solidFill>
                <a:latin typeface="Helvetica Neue"/>
                <a:ea typeface="Helvetica Neue"/>
                <a:cs typeface="Helvetica Neue"/>
              </a:rPr>
              <a:t>完成真实数据的清洗、统计分析与静态图表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D599EC-A8AA-45B5-A13B-AEBA692B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9595C-FA40-4282-8295-901FE95F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5E5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5E5F1"/>
                </a:solidFill>
                <a:latin typeface="Helvetica Neue"/>
                <a:ea typeface="Helvetica Neue"/>
                <a:cs typeface="Helvetica Neue"/>
              </a:rPr>
              <a:t>完成 SQLite 数据导入、KPI 与天气查询接口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08344E-3286-4442-A8B5-8E936388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D011A6-E1BE-45D5-99AE-95F3339B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5E5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5E5F1"/>
                </a:solidFill>
                <a:latin typeface="Helvetica Neue"/>
                <a:ea typeface="Helvetica Neue"/>
                <a:cs typeface="Helvetica Neue"/>
              </a:rPr>
              <a:t>完成 ECharts 数据大屏与项目实施证据整理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9A50D7-EB7F-4EC0-B26E-3702A9EF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9C1D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E47F3-8832-4539-B88C-996AB65E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714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5E5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D5E5F1"/>
                </a:solidFill>
                <a:latin typeface="Helvetica Neue"/>
                <a:ea typeface="Helvetica Neue"/>
                <a:cs typeface="Helvetica Neue"/>
              </a:rPr>
              <a:t>保留需求预测和实时数据接入的扩展空间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0A497-4810-4A02-BE20-551AECA3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095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D315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58D0ED-CAC9-4C2A-8DF5-1B4EA4C4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9C1D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9C1D1"/>
                </a:solidFill>
                <a:latin typeface="Helvetica Neue"/>
                <a:ea typeface="Helvetica Neue"/>
                <a:cs typeface="Helvetica Neue"/>
              </a:rPr>
              <a:t>感谢聆听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DEFD3D-E549-435A-95BF-83C4C92A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5E5F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D5E5F1"/>
                </a:solidFill>
                <a:latin typeface="Helvetica Neue"/>
                <a:ea typeface="Helvetica Neue"/>
                <a:cs typeface="Helvetica Neue"/>
              </a:rPr>
              <a:t>欢迎提问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933385-F3A7-41E5-B187-EAEE3433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AB4D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8AB4D4"/>
                </a:solidFill>
                <a:latin typeface="Helvetica Neue"/>
                <a:ea typeface="Helvetica Neue"/>
                <a:cs typeface="Helvetica Neue"/>
              </a:rPr>
              <a:t>答辩演示：数据库 → 接口 → 大屏 → 测试</a:t>
            </a:r>
          </a:p>
        </p:txBody>
      </p:sp>
    </p:spTree>
    <p:extLst>
      <p:ext uri="{BB962C8B-B14F-4D97-AF65-F5344CB8AC3E}">
        <p14:creationId xmlns:p14="http://schemas.microsoft.com/office/powerpoint/2010/main" val="3550744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2026-09-04T07:58:08.3560000Z</dcterms:created>
  <dcterms:modified xsi:type="dcterms:W3CDTF">2026-09-04T07:58:08.3560000Z</dcterms:modified>
</coreProperties>
</file>